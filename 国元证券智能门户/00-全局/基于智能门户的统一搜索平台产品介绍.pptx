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47" Target="notesSlides/notesSlide19.xml" Type="http://schemas.openxmlformats.org/officeDocument/2006/relationships/notesSlide"/><Relationship Id="rId48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大家好，欢迎参加本次产品介绍会。今天我将向大家展示我们基于智能门户打造的统一搜索平台，它旨在帮助企业打破数据孤岛，构建一个高效、智能的一站式检索中心。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本次介绍将分为六个部分，首先我们会分析当前企业在信息检索方面面临的挑战，然后介绍我们的产品概述、核心功能、版本差异、实施流程，最后总结产品为客户带来的核心价值。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首先，让我们看看当前企业在信息检索方面普遍面临哪些痛点和困境。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总结出四大痛点：首先是数据孤岛问题，企业内部数据分散在各个系统，查找信息费时费力；其次是检索体验差，不同格式的数据难以统一检索；第三是场景需求分化，信创和非信创环境需要不同的解决方案；最后是管控能力弱，无法有效管理检索规则和保障数据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针对这些痛点，我们推出了基于智能门户的统一搜索平台。接下来，我将为大家详细介绍这款产品。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产品定位是一站式智能检索解决方案，核心目标是打通企业内部所有数据，提供统一的检索服务。它具备四大核心优势：全场景覆盖各种数据类型，能够适配信创和非信创两种环境，支持低代码可视化配置，并且整个检索过程是可管可控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支撑这些优势的是我们四大核心基础能力：强大的多源数据对接能力、易用的可视化后台配置、精细化的检索规则管控，以及全链路的数据监控，确保平台稳定可靠运行。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接下来，我们深入了解一下平台的核心功能模块。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数据接入层，它负责从各个数据源获取数据。我们支持直接对接数据库，也可以通过插件化的方式扩展文件解析、接口采集等能力，灵活应对各种数据源。采集到的数据会被同步到本地索引表，为后续检索做准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接入后，进入索引与检索配置层。我们可以按业务逻辑建立索引表，让数据结构化。同时，我们可以设计多个搜索场景，比如针对新闻的搜索、针对待办的搜索，每个场景可以绑定不同的索引表和查询条件，实现精准检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让检索更精准、更可控，我们提供了检索规则配置功能，比如设置禁用词、调整关键词权重等。同时，开发调试工具可以帮助技术人员快速验证配置，而统计分析功能则能让管理员了解平台的使用情况，持续优化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针对不同的部署环境，我们提供了信创和非信创两个版本，下面我们来对比一下它们的能力差异。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清晰地展示了两个版本的区别。非信创版本功能更全面，支持文件内容检索，但需要额外采购组件；信创版本则开箱即用，无需额外采购，但暂时不支持文件内容检索。两个版本在对接第三方系统时都需要重建索引。客户可以根据自身的环境和需求进行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了解了产品功能后，大家可能会关心实施的复杂度。接下来我将介绍我们的快速配置上线流程。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产品设计非常注重易用性，基础的上线配置仅需三步：第一步，配置好数据采集任务；第二步，创建业务索引表；第三步，设计好搜索场景。这三步完成后，基本的检索功能就可以使用了。后续还可以根据需要进行规则优化和监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最后，我们来总结一下这款产品能为客户带来哪些核心价值。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总结来说，我们的产品能为客户带来四大核心价值：首先是显著提升办公效率；其次是灵活适配不同的IT环境；第三是通过低代码配置降低实施成本；最后是通过全流程管控保障数据安全。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总而言之，我们的统一搜索平台是一款成熟、可靠的解决方案，能够有效解决企业当前面临的信息检索挑战。我们将持续投入研发，不断提升产品的智能化水平，助力企业的数字化转型之路。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我的介绍到此结束，感谢大家的聆听。接下来是问答环节，欢迎大家提问交流。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再次感谢大家！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notesSlides/notesSlide2.xml" Type="http://schemas.openxmlformats.org/officeDocument/2006/relationships/notesSlide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Relationship Id="rId6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jpeg" Type="http://schemas.openxmlformats.org/officeDocument/2006/relationships/image"/><Relationship Id="rId4" Target="../media/image25.jpeg" Type="http://schemas.openxmlformats.org/officeDocument/2006/relationships/image"/><Relationship Id="rId5" Target="../media/image26.jpe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jpeg" Type="http://schemas.openxmlformats.org/officeDocument/2006/relationships/image"/><Relationship Id="rId4" Target="../media/image24.jpeg" Type="http://schemas.openxmlformats.org/officeDocument/2006/relationships/image"/><Relationship Id="rId5" Target="../media/image23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jpeg" Type="http://schemas.openxmlformats.org/officeDocument/2006/relationships/image"/><Relationship Id="rId7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jpeg" Type="http://schemas.openxmlformats.org/officeDocument/2006/relationships/image"/><Relationship Id="rId7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1.jpeg" Type="http://schemas.openxmlformats.org/officeDocument/2006/relationships/image"/><Relationship Id="rId3" Target="../media/image42.jpeg" Type="http://schemas.openxmlformats.org/officeDocument/2006/relationships/image"/><Relationship Id="rId4" Target="../media/image43.jpeg" Type="http://schemas.openxmlformats.org/officeDocument/2006/relationships/image"/><Relationship Id="rId5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4.jpeg" Type="http://schemas.openxmlformats.org/officeDocument/2006/relationships/image"/><Relationship Id="rId11" Target="../notesSlides/notesSlide15.xml" Type="http://schemas.openxmlformats.org/officeDocument/2006/relationships/notesSlide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7.jpeg" Type="http://schemas.openxmlformats.org/officeDocument/2006/relationships/image"/><Relationship Id="rId3" Target="../media/image25.jpeg" Type="http://schemas.openxmlformats.org/officeDocument/2006/relationships/image"/><Relationship Id="rId4" Target="../media/image58.jpeg" Type="http://schemas.openxmlformats.org/officeDocument/2006/relationships/image"/><Relationship Id="rId5" Target="../media/image59.jpeg" Type="http://schemas.openxmlformats.org/officeDocument/2006/relationships/image"/><Relationship Id="rId6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66.png" Type="http://schemas.openxmlformats.org/officeDocument/2006/relationships/image"/><Relationship Id="rId4" Target="../media/image67.svg" Type="http://schemas.openxmlformats.org/officeDocument/2006/relationships/image"/><Relationship Id="rId5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4.png" Type="http://schemas.openxmlformats.org/officeDocument/2006/relationships/image"/><Relationship Id="rId2" Target="../media/image4.jpeg" Type="http://schemas.openxmlformats.org/officeDocument/2006/relationships/image"/><Relationship Id="rId3" Target="../media/image68.png" Type="http://schemas.openxmlformats.org/officeDocument/2006/relationships/image"/><Relationship Id="rId4" Target="../media/image69.svg" Type="http://schemas.openxmlformats.org/officeDocument/2006/relationships/image"/><Relationship Id="rId5" Target="../media/image70.png" Type="http://schemas.openxmlformats.org/officeDocument/2006/relationships/image"/><Relationship Id="rId6" Target="../media/image71.svg" Type="http://schemas.openxmlformats.org/officeDocument/2006/relationships/image"/><Relationship Id="rId7" Target="../media/image72.png" Type="http://schemas.openxmlformats.org/officeDocument/2006/relationships/image"/><Relationship Id="rId8" Target="../media/image73.svg" Type="http://schemas.openxmlformats.org/officeDocument/2006/relationships/image"/><Relationship Id="rId9" Target="../notesSlides/notesSlide2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270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508000" y="2032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基于智能门户的统一搜索平台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588000" y="292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175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打破数据孤岛，构建一站式智能检索中心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48260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汇报人：XXX | 日期：2025年12月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A90E2">
                  <a:alpha val="0"/>
                </a:srgbClr>
              </a:gs>
              <a:gs pos="50000">
                <a:srgbClr val="4A90E2">
                  <a:alpha val="100000"/>
                </a:srgbClr>
              </a:gs>
              <a:gs pos="100000">
                <a:srgbClr val="4A90E2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006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市场挑战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540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企业信息检索的痛点与困境分析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778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207000" y="2006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产品概述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2540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统一搜索平台整体架构与介绍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778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90000" y="2006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2540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深度解析平台核心技术与能力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3683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524000" y="3911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版本对比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4445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信创与非信创版本能力差异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445000" y="3683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99000" y="39370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5207000" y="3911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实施流程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699000" y="4445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快速配置与上线部署指南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128000" y="3683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382000" y="3937000"/>
            <a:ext cx="406400" cy="4064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8890000" y="3911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价值总结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382000" y="4445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产品为客户带来的核心价值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0" y="6096000"/>
            <a:ext cx="1219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2024 UNIFIED SEARCH PLATFORM PRESENTATION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413000"/>
            <a:ext cx="76200" cy="1524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397000" y="2159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97000" y="2540000"/>
            <a:ext cx="952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市场挑战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97000" y="3302000"/>
            <a:ext cx="952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企业信息检索的痛点与困境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4064000"/>
            <a:ext cx="10160000" cy="127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A90E2">
                  <a:alpha val="100000"/>
                </a:srgbClr>
              </a:gs>
              <a:gs pos="100000">
                <a:srgbClr val="4A90E2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541000" y="2540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603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企业信息检索的四大痛点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16000" y="17780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1905000" y="1714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数据孤岛严重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905000" y="2095500"/>
            <a:ext cx="381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多系统数据分散，员工需频繁切换平台查找信息，效率低下。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5240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477000" y="17780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7366000" y="1714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检索体验不佳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366000" y="2095500"/>
            <a:ext cx="381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异构数据格式不统一，无法实现一站式精准检索，结果杂乱。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0005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1016000" y="4254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1905000" y="4191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场景需求分化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905000" y="4572000"/>
            <a:ext cx="381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信创与非信创环境对检索能力和成本要求不同，缺乏灵活方案。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40005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477000" y="4254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7366000" y="4191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管控能力薄弱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66000" y="4572000"/>
            <a:ext cx="381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缺少统一的检索规则配置和行为统计，难以优化体验和保障安全。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905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 spc="400">
                <a:solidFill>
                  <a:srgbClr val="4A90E2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02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064000" y="2413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产品概述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cmpd="sng" cap="flat">
            <a:solidFill>
              <a:srgbClr val="2E75C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3556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200" spc="200">
                <a:solidFill>
                  <a:srgbClr val="DCE6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统一搜索平台整体介绍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44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0" y="6756400"/>
            <a:ext cx="12192000" cy="1016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A2A54">
                  <a:alpha val="0"/>
                </a:srgbClr>
              </a:gs>
              <a:gs pos="50000">
                <a:srgbClr val="4A90E2">
                  <a:alpha val="100000"/>
                </a:srgbClr>
              </a:gs>
              <a:gs pos="100000">
                <a:srgbClr val="0A2A54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90551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产品定位：一站式智能检索解决方案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431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" y="16510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20320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打通企业多源异构业务数据，提供统一、高效、智能的检索服务，打破信息孤岛。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97" b="97"/>
          <a:stretch>
            <a:fillRect/>
          </a:stretch>
        </p:blipFill>
        <p:spPr>
          <a:xfrm rot="0" flipH="false" flipV="false">
            <a:off x="762000" y="3048000"/>
            <a:ext cx="4318000" cy="1435100"/>
          </a:xfrm>
          <a:prstGeom prst="roundRect">
            <a:avLst>
              <a:gd name="adj" fmla="val 8849"/>
            </a:avLst>
          </a:prstGeom>
          <a:noFill/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</p:pic>
      <p:sp>
        <p:nvSpPr>
          <p:cNvPr name="AutoShape 7" id="7"/>
          <p:cNvSpPr/>
          <p:nvPr/>
        </p:nvSpPr>
        <p:spPr>
          <a:xfrm rot="0" flipH="false" flipV="false">
            <a:off x="5588000" y="1524000"/>
            <a:ext cx="279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778500" y="1714500"/>
            <a:ext cx="609600" cy="6096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6477000" y="1714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全场景覆盖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778500" y="2413000"/>
            <a:ext cx="241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支持新闻、待办、文件等多种异构数据类型的统一智能检索。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636000" y="1524000"/>
            <a:ext cx="279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8826500" y="1714500"/>
            <a:ext cx="609600" cy="6096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9525000" y="1714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双环境适配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26500" y="2413000"/>
            <a:ext cx="241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完美兼容信创与非信创部署环境，灵活适应企业IT架构需求。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588000" y="3683000"/>
            <a:ext cx="279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5778500" y="3873500"/>
            <a:ext cx="609600" cy="6096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6477000" y="3873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低代码配置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778500" y="4572000"/>
            <a:ext cx="241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可视化后台配置界面，快速上线，无需大量二次开发投入。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636000" y="3683000"/>
            <a:ext cx="279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826500" y="3873500"/>
            <a:ext cx="609600" cy="609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525000" y="3873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可管可控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826500" y="4572000"/>
            <a:ext cx="241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支持检索规则灵活配置，提供完整的用户检索行为统计分析。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6096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核心基础能力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2540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651000" y="1587500"/>
            <a:ext cx="762000" cy="762000"/>
          </a:xfrm>
          <a:prstGeom prst="roundRect">
            <a:avLst>
              <a:gd name="adj" fmla="val 50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24130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多源数据对接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794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支持对接智能门户及各类第三方业务系统，打破数据孤岛。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10000" y="1397000"/>
            <a:ext cx="2540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4699000" y="1587500"/>
            <a:ext cx="762000" cy="762000"/>
          </a:xfrm>
          <a:prstGeom prst="roundRect">
            <a:avLst>
              <a:gd name="adj" fmla="val 50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3937000" y="24130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可视化后台配置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937000" y="2794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全流程可视化操作界面，降低实施难度与运维技术门槛。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873500"/>
            <a:ext cx="2540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1651000" y="4064000"/>
            <a:ext cx="762000" cy="762000"/>
          </a:xfrm>
          <a:prstGeom prst="roundRect">
            <a:avLst>
              <a:gd name="adj" fmla="val 50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889000" y="48895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精细化检索管控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9000" y="52705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灵活配置禁用词、权重及同义词规则，提升检索精准度。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10000" y="3873500"/>
            <a:ext cx="2540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rcRect l="33333" r="33333" t="0" b="0"/>
          <a:stretch>
            <a:fillRect/>
          </a:stretch>
        </p:blipFill>
        <p:spPr>
          <a:xfrm rot="0" flipH="false" flipV="false">
            <a:off x="4699000" y="4064000"/>
            <a:ext cx="762000" cy="762000"/>
          </a:xfrm>
          <a:prstGeom prst="roundRect">
            <a:avLst>
              <a:gd name="adj" fmla="val 50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3937000" y="48895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全链路数据监控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937000" y="52705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实时监控数据采集与接口调用状态，保障系统稳定运行。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58000" y="1397000"/>
            <a:ext cx="4572000" cy="4699000"/>
          </a:xfrm>
          <a:prstGeom prst="roundRect">
            <a:avLst>
              <a:gd name="adj" fmla="val 2777"/>
            </a:avLst>
          </a:prstGeom>
          <a:solidFill>
            <a:srgbClr val="4A90E2">
              <a:alpha val="5000"/>
            </a:srgbClr>
          </a:solidFill>
          <a:ln w="12700" cmpd="sng" cap="flat">
            <a:solidFill>
              <a:srgbClr val="4A90E2">
                <a:alpha val="2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636000" y="2286000"/>
            <a:ext cx="1016000" cy="1016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112000" y="3556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技术架构优势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12000" y="4064000"/>
            <a:ext cx="406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基于微服务架构设计，具备高扩展性与高可用性。</a:t>
            </a:r>
            <a:r>
              <a:rPr lang="en-US" b="false" i="false" strike="noStrike" u="none" sz="1400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四大核心能力构建坚实底座，赋能业务高效发展。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77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4A90E2">
                    <a:alpha val="40000"/>
                  </a:srgbClr>
                </a:solidFill>
                <a:latin typeface="DIN Alternate"/>
                <a:ea typeface="DIN Alternate"/>
                <a:cs typeface="DIN Alternate"/>
                <a:sym typeface="DIN Alternate"/>
              </a:rPr>
              <a:t>03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19600" y="2540000"/>
            <a:ext cx="335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0" y="3429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3683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 spc="200">
                <a:solidFill>
                  <a:srgbClr val="C8D2E6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深度解析平台核心能力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572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29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核心功能：数据接入层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4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349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建立采集任务，对接目标数据库，设置采集规则，自动同步数据至本地索引表，确保数据源头的准确性与时效性。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556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746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数据处理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254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支持插件化扩展架构，可通过开发定制插件实现复杂文件解析、异构接口采集等多种数据接入方式，灵活适配业务需求。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1651000"/>
            <a:ext cx="3048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190500" algn="tl" rotWithShape="false">
              <a:srgbClr val="0A2A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6477000" y="1778000"/>
            <a:ext cx="2794000" cy="2794000"/>
          </a:xfrm>
          <a:prstGeom prst="roundRect">
            <a:avLst>
              <a:gd name="adj" fmla="val 4545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6350000" y="4826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数据采集流程示意图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90E2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84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Data Access Layer Architecture · 2026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04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核心功能：索引与检索配置层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1841500"/>
            <a:ext cx="4013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索引管理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74800" y="2260600"/>
            <a:ext cx="4013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按业务逻辑建立索引表，将采集的原始数据进行结构化处理，为后续的高效检索提供坚实的数据支撑。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74800" y="3492500"/>
            <a:ext cx="4013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应用场景设计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74800" y="3911600"/>
            <a:ext cx="4013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灵活创建多个查询场景，每个场景可独立绑定索引表和定制化查询条件，精准满足不同业务线的检索需求。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1651000"/>
            <a:ext cx="3556000" cy="3556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254000" algn="tl" rotWithShape="false">
              <a:srgbClr val="0A2A5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6477000" y="1778000"/>
            <a:ext cx="3302000" cy="3302000"/>
          </a:xfrm>
          <a:prstGeom prst="roundRect">
            <a:avLst>
              <a:gd name="adj" fmla="val 5769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90E2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524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通过结构化索引与场景化配置，实现从“数据存储”到“价值检索”的高效转化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543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核心功能：检索规则与支撑工具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18512" b="18520"/>
          <a:stretch>
            <a:fillRect/>
          </a:stretch>
        </p:blipFill>
        <p:spPr>
          <a:xfrm rot="0" flipH="false" flipV="false">
            <a:off x="1905000" y="20955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323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检索管理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683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F6B"/>
                </a:solidFill>
                <a:latin typeface="Noto Sans SC"/>
                <a:ea typeface="Noto Sans SC"/>
                <a:cs typeface="Noto Sans SC"/>
                <a:sym typeface="Noto Sans SC"/>
              </a:rPr>
              <a:t>配置禁用词、搜索词权重、同义词等规则，优化检索结果，提升搜索精准度。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588000" y="20955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4572000" y="323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开发调试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35500" y="3683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F6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提供便捷的接口测试工具，支持在线模拟请求，帮助开发人员快速验证配置效果。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9271000" y="20955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8255000" y="323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统计分析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18500" y="3683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F6B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多维度统计业务数据量、接口调用频次及用户搜索行为，为决策提供数据支撑。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905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 spc="4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04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083050" y="2413000"/>
            <a:ext cx="40259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版本对比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55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 spc="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信创与非信创版本能力差异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57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A2A54">
                  <a:alpha val="0"/>
                </a:srgbClr>
              </a:gs>
              <a:gs pos="50000">
                <a:srgbClr val="4A90E2">
                  <a:alpha val="50000"/>
                </a:srgbClr>
              </a:gs>
              <a:gs pos="100000">
                <a:srgbClr val="0A2A54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信创与非信创版本能力对比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2286000" cy="508000"/>
          </a:xfrm>
          <a:prstGeom prst="roundRect">
            <a:avLst>
              <a:gd name="adj" fmla="val 25000"/>
            </a:avLst>
          </a:prstGeom>
          <a:solidFill>
            <a:srgbClr val="0A2A54">
              <a:alpha val="5000"/>
            </a:srgbClr>
          </a:solidFill>
          <a:ln cmpd="sng" cap="flat">
            <a:solidFill>
              <a:srgbClr val="011A3A">
                <a:alpha val="5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对比维度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302000" y="1524000"/>
            <a:ext cx="3810000" cy="508000"/>
          </a:xfrm>
          <a:prstGeom prst="roundRect">
            <a:avLst>
              <a:gd name="adj" fmla="val 25000"/>
            </a:avLst>
          </a:prstGeom>
          <a:solidFill>
            <a:srgbClr val="4A90E2">
              <a:alpha val="10000"/>
            </a:srgbClr>
          </a:solidFill>
          <a:ln cmpd="sng" cap="flat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非信创统一搜索版本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366000" y="1524000"/>
            <a:ext cx="3810000" cy="508000"/>
          </a:xfrm>
          <a:prstGeom prst="roundRect">
            <a:avLst>
              <a:gd name="adj" fmla="val 25000"/>
            </a:avLst>
          </a:prstGeom>
          <a:solidFill>
            <a:srgbClr val="0A2A54">
              <a:alpha val="10000"/>
            </a:srgbClr>
          </a:solidFill>
          <a:ln cmpd="sng" cap="flat">
            <a:solidFill>
              <a:srgbClr val="011A3A">
                <a:alpha val="1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信创统一搜索版本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22500"/>
            <a:ext cx="228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2413000"/>
            <a:ext cx="381000" cy="381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23495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适配场景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302000" y="2222500"/>
            <a:ext cx="381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常规非信创办公环境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366000" y="2222500"/>
            <a:ext cx="381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国产化信创改造环境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175000"/>
            <a:ext cx="228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3365500"/>
            <a:ext cx="381000" cy="381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97000" y="3302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采购要求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302000" y="3175000"/>
            <a:ext cx="381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需要额外采购配套组件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366000" y="3175000"/>
            <a:ext cx="381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无需额外采购，开箱即用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27500"/>
            <a:ext cx="228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4318000"/>
            <a:ext cx="381000" cy="381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397000" y="42545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支持检索范围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302000" y="4127500"/>
            <a:ext cx="381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新闻、待办、标题、文件名、</a:t>
            </a:r>
            <a:r>
              <a:rPr lang="en-US" b="true" i="false" strike="noStrike" u="none" sz="14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文件内容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366000" y="4127500"/>
            <a:ext cx="381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新闻、待办、标题、文件名</a:t>
            </a: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（不含内容）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080000"/>
            <a:ext cx="228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2500" y="5270500"/>
            <a:ext cx="381000" cy="381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397000" y="5207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对接通用要求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302000" y="5080000"/>
            <a:ext cx="381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对接第三方系统/门户，需重建索引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366000" y="5080000"/>
            <a:ext cx="381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对接第三方系统/门户，需重建索引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6096000"/>
            <a:ext cx="10668000" cy="381000"/>
          </a:xfrm>
          <a:prstGeom prst="roundRect">
            <a:avLst>
              <a:gd name="adj" fmla="val 33333"/>
            </a:avLst>
          </a:prstGeom>
          <a:solidFill>
            <a:srgbClr val="4A90E2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b="false" i="false" strike="noStrike" u="none" sz="13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非信创版本功能全面需组件，信创版本开箱即用但内容检索受限，对接机制一致。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524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实施流程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175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42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快速配置与上线指南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0" y="43180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4A90E2">
              <a:alpha val="20000"/>
            </a:srgbClr>
          </a:solidFill>
          <a:ln w="12700" cmpd="sng" cap="flat">
            <a:solidFill>
              <a:srgbClr val="4A90E2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Implementation Guide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0358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快速配置上线流程（仅需3步）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6510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1. 配置采集任务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A2A54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确定数据源，设置采集规则与定时任务，确保数据实时同步。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30500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9845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651000" y="2857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2. 创建索引表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A2A54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按业务需求建立索引表结构，完成原始数据到搜索数据的精准映射。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937000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651000" y="40640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3. 设计搜索场景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A2A54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配置检索场景和查询条件，绑定索引表，即刻生成可用的搜索服务。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207000"/>
            <a:ext cx="6096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397500"/>
            <a:ext cx="381000" cy="381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5207000"/>
            <a:ext cx="520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进阶优化：</a:t>
            </a:r>
            <a:r>
              <a:rPr lang="en-US" b="false" i="false" strike="noStrike" u="none" sz="1400">
                <a:solidFill>
                  <a:srgbClr val="0A2A54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支持检索规则精细化配置、接口调试与全链路运营监控，持续提升搜索体验。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7620000" y="1651000"/>
            <a:ext cx="3556000" cy="3556000"/>
          </a:xfrm>
          <a:prstGeom prst="roundRect">
            <a:avLst>
              <a:gd name="adj" fmla="val 7142"/>
            </a:avLst>
          </a:prstGeom>
          <a:noFill/>
          <a:ln w="25400" cmpd="sng" cap="flat">
            <a:noFill/>
            <a:prstDash val="solid"/>
            <a:round/>
          </a:ln>
          <a:effectLst>
            <a:outerShdw dir="5400000" dist="127000" blurRad="254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6" id="16"/>
          <p:cNvSpPr/>
          <p:nvPr/>
        </p:nvSpPr>
        <p:spPr>
          <a:xfrm rot="0" flipH="false" flipV="false">
            <a:off x="7620000" y="5334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A2A54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可视化配置流程示意图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2032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 spc="4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06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2540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价值总结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0" y="3429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3683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 spc="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产品为客户带来的核心价值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57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0" y="6807200"/>
            <a:ext cx="1219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3022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产品核心价值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16000" y="2108200"/>
            <a:ext cx="1117600" cy="1117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2286000" y="1841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提升效率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0" y="2286000"/>
            <a:ext cx="330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F6B"/>
                </a:solidFill>
                <a:latin typeface="Noto Sans SC"/>
                <a:ea typeface="Noto Sans SC"/>
                <a:cs typeface="Noto Sans SC"/>
                <a:sym typeface="Noto Sans SC"/>
              </a:rPr>
              <a:t>打破数据孤岛，一站式检索，大幅降低信息查找成本。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651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604000" y="2108200"/>
            <a:ext cx="1117600" cy="1117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7874000" y="1841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灵活适配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874000" y="2286000"/>
            <a:ext cx="330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F6B"/>
                </a:solidFill>
                <a:latin typeface="Noto Sans SC"/>
                <a:ea typeface="Noto Sans SC"/>
                <a:cs typeface="Noto Sans SC"/>
                <a:sym typeface="Noto Sans SC"/>
              </a:rPr>
              <a:t>信创/非信创双版本，兼顾能力与成本，适配不同需求。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937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1016000" y="4394200"/>
            <a:ext cx="1117600" cy="1117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2286000" y="4127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降低成本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286000" y="4572000"/>
            <a:ext cx="330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F6B"/>
                </a:solidFill>
                <a:latin typeface="Noto Sans SC"/>
                <a:ea typeface="Noto Sans SC"/>
                <a:cs typeface="Noto Sans SC"/>
                <a:sym typeface="Noto Sans SC"/>
              </a:rPr>
              <a:t>低代码配置化，核心3步上线，缩短项目周期，减少开发投入。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937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604000" y="4394200"/>
            <a:ext cx="1117600" cy="1117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7874000" y="4127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安全可控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874000" y="4572000"/>
            <a:ext cx="330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F6B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全流程可视化管控，兼顾检索体验与数据安全。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3022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080000" cy="76200"/>
          </a:xfrm>
          <a:prstGeom prst="roundRect">
            <a:avLst>
              <a:gd name="adj" fmla="val 166666"/>
            </a:avLst>
          </a:prstGeom>
          <a:solidFill>
            <a:srgbClr val="0A2A5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2159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133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核心总结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2667000"/>
            <a:ext cx="431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本产品是一款功能强大、配置灵活、安全可控的企业级统一搜索解决方案，能够有效解决企业信息检索难题。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778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A2A54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778000"/>
            <a:ext cx="5080000" cy="76200"/>
          </a:xfrm>
          <a:prstGeom prst="roundRect">
            <a:avLst>
              <a:gd name="adj" fmla="val 166666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31000" y="2159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239000" y="2133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731000" y="2667000"/>
            <a:ext cx="431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持续迭代优化，不断提升检索的智能化水平和用户体验，助力企业数字化转型。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20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4102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24000" y="5359400"/>
            <a:ext cx="965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愿景：构建全知全能的企业智能大脑，让数据创造无限价值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524000"/>
            <a:ext cx="609600" cy="609600"/>
          </a:xfrm>
          <a:prstGeom prst="rect">
            <a:avLst/>
          </a:prstGeom>
          <a:effectLst>
            <a:outerShdw dir="2700000" dist="0" blurRad="127000" algn="tl" rotWithShape="false">
              <a:srgbClr val="4A90E2">
                <a:alpha val="5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4699000" y="2286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30000"/>
              </a:srgbClr>
            </a:outerShdw>
          </a:effectLst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Q&amp;A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429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0" blurRad="63500" algn="tl" rotWithShape="false">
              <a:srgbClr val="4A90E2">
                <a:alpha val="8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0" y="3683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 spc="400">
                <a:solidFill>
                  <a:srgbClr val="E5E7EB">
                    <a:alpha val="9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感谢聆听，欢迎提问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A90E2">
                  <a:alpha val="0"/>
                </a:srgbClr>
              </a:gs>
              <a:gs pos="50000">
                <a:srgbClr val="4A90E2">
                  <a:alpha val="50000"/>
                </a:srgbClr>
              </a:gs>
              <a:gs pos="100000">
                <a:srgbClr val="4A90E2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2032000"/>
            <a:ext cx="1092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THANK YOU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461000" y="3175000"/>
            <a:ext cx="1270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429000"/>
            <a:ext cx="1092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感谢聆听与支持，期待与您共创未来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0" y="4445000"/>
            <a:ext cx="762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921000" y="48006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302000" y="4762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010-12345678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207000" y="48006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588000" y="4762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contact@tech.com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0" y="48006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001000" y="4762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www.tech.com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